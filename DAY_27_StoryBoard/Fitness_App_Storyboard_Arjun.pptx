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a_p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1737360"/>
            <a:ext cx="6035040" cy="3200400"/>
          </a:xfrm>
          <a:prstGeom prst="roundRect">
            <a:avLst>
              <a:gd name="adj" fmla="val 4000"/>
            </a:avLst>
          </a:prstGeom>
          <a:solidFill>
            <a:srgbClr val="1C2233">
              <a:alpha val="82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77240" y="1965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E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FITNESS APP · STORYBOARD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77240" y="233172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Step Counts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777240" y="347472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FF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character-driven fitness journey — following Arjun from “I'll start tomorrow” to a lasting habit.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77240" y="43434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E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panels  ·  onboarding / journey sequence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a_p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384048"/>
            <a:ext cx="566928" cy="566928"/>
          </a:xfrm>
          <a:prstGeom prst="ellipse">
            <a:avLst/>
          </a:prstGeom>
          <a:solidFill>
            <a:srgbClr val="EF7A4D"/>
          </a:solidFill>
          <a:ln/>
        </p:spPr>
      </p:sp>
      <p:sp>
        <p:nvSpPr>
          <p:cNvPr id="4" name="Text 1"/>
          <p:cNvSpPr/>
          <p:nvPr/>
        </p:nvSpPr>
        <p:spPr>
          <a:xfrm>
            <a:off x="41148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1097280" y="448056"/>
            <a:ext cx="4304995" cy="457200"/>
          </a:xfrm>
          <a:prstGeom prst="roundRect">
            <a:avLst>
              <a:gd name="adj" fmla="val 50000"/>
            </a:avLst>
          </a:prstGeom>
          <a:solidFill>
            <a:srgbClr val="1C2233">
              <a:alpha val="92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1097280" y="448056"/>
            <a:ext cx="43049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C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1  ·  </a:t>
            </a:r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 Introduction — Arjun's Challenge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02920" y="5084064"/>
            <a:ext cx="11155680" cy="1481328"/>
          </a:xfrm>
          <a:prstGeom prst="roundRect">
            <a:avLst>
              <a:gd name="adj" fmla="val 7407"/>
            </a:avLst>
          </a:prstGeom>
          <a:solidFill>
            <a:srgbClr val="1C2233">
              <a:alpha val="9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523036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EF7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pPr indent="0" marL="0">
              <a:buNone/>
            </a:pPr>
            <a:r>
              <a:rPr lang="en-US" sz="22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I'll start tomorrow…</a:t>
            </a:r>
            <a:pPr indent="0" marL="0">
              <a:buNone/>
            </a:pPr>
            <a:r>
              <a:rPr lang="en-US" sz="2200" b="1" i="1" dirty="0">
                <a:solidFill>
                  <a:srgbClr val="EF7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”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77240" y="5925312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C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  </a:t>
            </a:r>
            <a:pPr indent="0" marL="0">
              <a:buNone/>
            </a:pPr>
            <a:r>
              <a:rPr lang="en-US" sz="14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the problem and the emotion.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a_p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384048"/>
            <a:ext cx="566928" cy="566928"/>
          </a:xfrm>
          <a:prstGeom prst="ellipse">
            <a:avLst/>
          </a:prstGeom>
          <a:solidFill>
            <a:srgbClr val="EF7A4D"/>
          </a:solidFill>
          <a:ln/>
        </p:spPr>
      </p:sp>
      <p:sp>
        <p:nvSpPr>
          <p:cNvPr id="4" name="Text 1"/>
          <p:cNvSpPr/>
          <p:nvPr/>
        </p:nvSpPr>
        <p:spPr>
          <a:xfrm>
            <a:off x="41148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1097280" y="448056"/>
            <a:ext cx="3671316" cy="457200"/>
          </a:xfrm>
          <a:prstGeom prst="roundRect">
            <a:avLst>
              <a:gd name="adj" fmla="val 50000"/>
            </a:avLst>
          </a:prstGeom>
          <a:solidFill>
            <a:srgbClr val="1C2233">
              <a:alpha val="92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1097280" y="448056"/>
            <a:ext cx="3671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C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2  ·  </a:t>
            </a:r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Point — Health Wake-up Call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02920" y="5084064"/>
            <a:ext cx="11155680" cy="1481328"/>
          </a:xfrm>
          <a:prstGeom prst="roundRect">
            <a:avLst>
              <a:gd name="adj" fmla="val 7407"/>
            </a:avLst>
          </a:prstGeom>
          <a:solidFill>
            <a:srgbClr val="1C2233">
              <a:alpha val="9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523036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EF7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pPr indent="0" marL="0">
              <a:buNone/>
            </a:pPr>
            <a:r>
              <a:rPr lang="en-US" sz="22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Something has to change.</a:t>
            </a:r>
            <a:pPr indent="0" marL="0">
              <a:buNone/>
            </a:pPr>
            <a:r>
              <a:rPr lang="en-US" sz="2200" b="1" i="1" dirty="0">
                <a:solidFill>
                  <a:srgbClr val="EF7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”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77240" y="5925312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C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  </a:t>
            </a:r>
            <a:pPr indent="0" marL="0">
              <a:buNone/>
            </a:pPr>
            <a:r>
              <a:rPr lang="en-US" sz="14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motivation for change.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a_p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384048"/>
            <a:ext cx="566928" cy="566928"/>
          </a:xfrm>
          <a:prstGeom prst="ellipse">
            <a:avLst/>
          </a:prstGeom>
          <a:solidFill>
            <a:srgbClr val="EF7A4D"/>
          </a:solidFill>
          <a:ln/>
        </p:spPr>
      </p:sp>
      <p:sp>
        <p:nvSpPr>
          <p:cNvPr id="4" name="Text 1"/>
          <p:cNvSpPr/>
          <p:nvPr/>
        </p:nvSpPr>
        <p:spPr>
          <a:xfrm>
            <a:off x="41148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1097280" y="448056"/>
            <a:ext cx="3671316" cy="457200"/>
          </a:xfrm>
          <a:prstGeom prst="roundRect">
            <a:avLst>
              <a:gd name="adj" fmla="val 50000"/>
            </a:avLst>
          </a:prstGeom>
          <a:solidFill>
            <a:srgbClr val="1C2233">
              <a:alpha val="92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1097280" y="448056"/>
            <a:ext cx="3671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C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3  ·  </a:t>
            </a:r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Onboarding — A Small First Goal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02920" y="5084064"/>
            <a:ext cx="11155680" cy="1481328"/>
          </a:xfrm>
          <a:prstGeom prst="roundRect">
            <a:avLst>
              <a:gd name="adj" fmla="val 7407"/>
            </a:avLst>
          </a:prstGeom>
          <a:solidFill>
            <a:srgbClr val="1C2233">
              <a:alpha val="9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523036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EF7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pPr indent="0" marL="0">
              <a:buNone/>
            </a:pPr>
            <a:r>
              <a:rPr lang="en-US" sz="22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begin with just 5 minutes today.</a:t>
            </a:r>
            <a:pPr indent="0" marL="0">
              <a:buNone/>
            </a:pPr>
            <a:r>
              <a:rPr lang="en-US" sz="2200" b="1" i="1" dirty="0">
                <a:solidFill>
                  <a:srgbClr val="EF7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”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77240" y="5925312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C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  </a:t>
            </a:r>
            <a:pPr indent="0" marL="0">
              <a:buNone/>
            </a:pPr>
            <a:r>
              <a:rPr lang="en-US" sz="14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removes fear with a tiny, doable goal.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a_p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384048"/>
            <a:ext cx="566928" cy="566928"/>
          </a:xfrm>
          <a:prstGeom prst="ellipse">
            <a:avLst/>
          </a:prstGeom>
          <a:solidFill>
            <a:srgbClr val="EF7A4D"/>
          </a:solidFill>
          <a:ln/>
        </p:spPr>
      </p:sp>
      <p:sp>
        <p:nvSpPr>
          <p:cNvPr id="4" name="Text 1"/>
          <p:cNvSpPr/>
          <p:nvPr/>
        </p:nvSpPr>
        <p:spPr>
          <a:xfrm>
            <a:off x="41148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1097280" y="448056"/>
            <a:ext cx="3942893" cy="457200"/>
          </a:xfrm>
          <a:prstGeom prst="roundRect">
            <a:avLst>
              <a:gd name="adj" fmla="val 50000"/>
            </a:avLst>
          </a:prstGeom>
          <a:solidFill>
            <a:srgbClr val="1C2233">
              <a:alpha val="92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1097280" y="448056"/>
            <a:ext cx="394289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C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4  ·  </a:t>
            </a:r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Success — Positive Reinforcement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02920" y="5084064"/>
            <a:ext cx="11155680" cy="1481328"/>
          </a:xfrm>
          <a:prstGeom prst="roundRect">
            <a:avLst>
              <a:gd name="adj" fmla="val 7407"/>
            </a:avLst>
          </a:prstGeom>
          <a:solidFill>
            <a:srgbClr val="1C2233">
              <a:alpha val="9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523036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EF7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pPr indent="0" marL="0">
              <a:buNone/>
            </a:pPr>
            <a:r>
              <a:rPr lang="en-US" sz="22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Great job! Day 1 complete.</a:t>
            </a:r>
            <a:pPr indent="0" marL="0">
              <a:buNone/>
            </a:pPr>
            <a:r>
              <a:rPr lang="en-US" sz="2200" b="1" i="1" dirty="0">
                <a:solidFill>
                  <a:srgbClr val="EF7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”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77240" y="5925312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C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  </a:t>
            </a:r>
            <a:pPr indent="0" marL="0">
              <a:buNone/>
            </a:pPr>
            <a:r>
              <a:rPr lang="en-US" sz="14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reinforcement builds momentum.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a_p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384048"/>
            <a:ext cx="566928" cy="566928"/>
          </a:xfrm>
          <a:prstGeom prst="ellipse">
            <a:avLst/>
          </a:prstGeom>
          <a:solidFill>
            <a:srgbClr val="EF7A4D"/>
          </a:solidFill>
          <a:ln/>
        </p:spPr>
      </p:sp>
      <p:sp>
        <p:nvSpPr>
          <p:cNvPr id="4" name="Text 1"/>
          <p:cNvSpPr/>
          <p:nvPr/>
        </p:nvSpPr>
        <p:spPr>
          <a:xfrm>
            <a:off x="41148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1097280" y="448056"/>
            <a:ext cx="3399739" cy="457200"/>
          </a:xfrm>
          <a:prstGeom prst="roundRect">
            <a:avLst>
              <a:gd name="adj" fmla="val 50000"/>
            </a:avLst>
          </a:prstGeom>
          <a:solidFill>
            <a:srgbClr val="1C2233">
              <a:alpha val="92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1097280" y="448056"/>
            <a:ext cx="33997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C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5  ·  </a:t>
            </a:r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Setback — Compassionate Recovery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02920" y="5084064"/>
            <a:ext cx="11155680" cy="1481328"/>
          </a:xfrm>
          <a:prstGeom prst="roundRect">
            <a:avLst>
              <a:gd name="adj" fmla="val 7407"/>
            </a:avLst>
          </a:prstGeom>
          <a:solidFill>
            <a:srgbClr val="1C2233">
              <a:alpha val="9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523036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EF7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pPr indent="0" marL="0">
              <a:buNone/>
            </a:pPr>
            <a:r>
              <a:rPr lang="en-US" sz="22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Missed today? No worries — tomorrow is another chance.</a:t>
            </a:r>
            <a:pPr indent="0" marL="0">
              <a:buNone/>
            </a:pPr>
            <a:r>
              <a:rPr lang="en-US" sz="2200" b="1" i="1" dirty="0">
                <a:solidFill>
                  <a:srgbClr val="EF7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”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77240" y="5925312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C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  </a:t>
            </a:r>
            <a:pPr indent="0" marL="0">
              <a:buNone/>
            </a:pPr>
            <a:r>
              <a:rPr lang="en-US" sz="14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Empathy instead of guilt keeps him from quitting.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a_p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384048"/>
            <a:ext cx="566928" cy="566928"/>
          </a:xfrm>
          <a:prstGeom prst="ellipse">
            <a:avLst/>
          </a:prstGeom>
          <a:solidFill>
            <a:srgbClr val="EF7A4D"/>
          </a:solidFill>
          <a:ln/>
        </p:spPr>
      </p:sp>
      <p:sp>
        <p:nvSpPr>
          <p:cNvPr id="4" name="Text 1"/>
          <p:cNvSpPr/>
          <p:nvPr/>
        </p:nvSpPr>
        <p:spPr>
          <a:xfrm>
            <a:off x="41148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1097280" y="448056"/>
            <a:ext cx="2675534" cy="457200"/>
          </a:xfrm>
          <a:prstGeom prst="roundRect">
            <a:avLst>
              <a:gd name="adj" fmla="val 50000"/>
            </a:avLst>
          </a:prstGeom>
          <a:solidFill>
            <a:srgbClr val="1C2233">
              <a:alpha val="92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1097280" y="448056"/>
            <a:ext cx="26755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C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6  ·  </a:t>
            </a:r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— Habit Formation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02920" y="5084064"/>
            <a:ext cx="11155680" cy="1481328"/>
          </a:xfrm>
          <a:prstGeom prst="roundRect">
            <a:avLst>
              <a:gd name="adj" fmla="val 7407"/>
            </a:avLst>
          </a:prstGeom>
          <a:solidFill>
            <a:srgbClr val="1C2233">
              <a:alpha val="9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523036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EF7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pPr indent="0" marL="0">
              <a:buNone/>
            </a:pPr>
            <a:r>
              <a:rPr lang="en-US" sz="22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7-day streak!</a:t>
            </a:r>
            <a:pPr indent="0" marL="0">
              <a:buNone/>
            </a:pPr>
            <a:r>
              <a:rPr lang="en-US" sz="2200" b="1" i="1" dirty="0">
                <a:solidFill>
                  <a:srgbClr val="EF7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”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77240" y="5925312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C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  </a:t>
            </a:r>
            <a:pPr indent="0" marL="0">
              <a:buNone/>
            </a:pPr>
            <a:r>
              <a:rPr lang="en-US" sz="14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through consistency.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a_p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384048"/>
            <a:ext cx="566928" cy="566928"/>
          </a:xfrm>
          <a:prstGeom prst="ellipse">
            <a:avLst/>
          </a:prstGeom>
          <a:solidFill>
            <a:srgbClr val="EF7A4D"/>
          </a:solidFill>
          <a:ln/>
        </p:spPr>
      </p:sp>
      <p:sp>
        <p:nvSpPr>
          <p:cNvPr id="4" name="Text 1"/>
          <p:cNvSpPr/>
          <p:nvPr/>
        </p:nvSpPr>
        <p:spPr>
          <a:xfrm>
            <a:off x="41148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1097280" y="448056"/>
            <a:ext cx="4123944" cy="457200"/>
          </a:xfrm>
          <a:prstGeom prst="roundRect">
            <a:avLst>
              <a:gd name="adj" fmla="val 50000"/>
            </a:avLst>
          </a:prstGeom>
          <a:solidFill>
            <a:srgbClr val="1C2233">
              <a:alpha val="92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1097280" y="448056"/>
            <a:ext cx="4123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C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7  ·  </a:t>
            </a:r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 — Stronger Than Yesterday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02920" y="5084064"/>
            <a:ext cx="11155680" cy="1481328"/>
          </a:xfrm>
          <a:prstGeom prst="roundRect">
            <a:avLst>
              <a:gd name="adj" fmla="val 7407"/>
            </a:avLst>
          </a:prstGeom>
          <a:solidFill>
            <a:srgbClr val="1C2233">
              <a:alpha val="9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523036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EF7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pPr indent="0" marL="0">
              <a:buNone/>
            </a:pPr>
            <a:r>
              <a:rPr lang="en-US" sz="22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You're stronger than yesterday.</a:t>
            </a:r>
            <a:pPr indent="0" marL="0">
              <a:buNone/>
            </a:pPr>
            <a:r>
              <a:rPr lang="en-US" sz="2200" b="1" i="1" dirty="0">
                <a:solidFill>
                  <a:srgbClr val="EF7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”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77240" y="5925312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C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  </a:t>
            </a:r>
            <a:pPr indent="0" marL="0">
              <a:buNone/>
            </a:pPr>
            <a:r>
              <a:rPr lang="en-US" sz="14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and physical improvement.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a_p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384048"/>
            <a:ext cx="566928" cy="566928"/>
          </a:xfrm>
          <a:prstGeom prst="ellipse">
            <a:avLst/>
          </a:prstGeom>
          <a:solidFill>
            <a:srgbClr val="EF7A4D"/>
          </a:solidFill>
          <a:ln/>
        </p:spPr>
      </p:sp>
      <p:sp>
        <p:nvSpPr>
          <p:cNvPr id="4" name="Text 1"/>
          <p:cNvSpPr/>
          <p:nvPr/>
        </p:nvSpPr>
        <p:spPr>
          <a:xfrm>
            <a:off x="41148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1097280" y="448056"/>
            <a:ext cx="4395521" cy="457200"/>
          </a:xfrm>
          <a:prstGeom prst="roundRect">
            <a:avLst>
              <a:gd name="adj" fmla="val 50000"/>
            </a:avLst>
          </a:prstGeom>
          <a:solidFill>
            <a:srgbClr val="1C2233">
              <a:alpha val="92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1097280" y="448056"/>
            <a:ext cx="439552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C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8  ·  </a:t>
            </a:r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Outcome — Sustainable Fitness Journey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02920" y="5084064"/>
            <a:ext cx="11155680" cy="1481328"/>
          </a:xfrm>
          <a:prstGeom prst="roundRect">
            <a:avLst>
              <a:gd name="adj" fmla="val 7407"/>
            </a:avLst>
          </a:prstGeom>
          <a:solidFill>
            <a:srgbClr val="1C2233">
              <a:alpha val="9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523036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EF7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pPr indent="0" marL="0">
              <a:buNone/>
            </a:pPr>
            <a:r>
              <a:rPr lang="en-US" sz="22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Fitness isn't perfection. It's progress.</a:t>
            </a:r>
            <a:pPr indent="0" marL="0">
              <a:buNone/>
            </a:pPr>
            <a:r>
              <a:rPr lang="en-US" sz="2200" b="1" i="1" dirty="0">
                <a:solidFill>
                  <a:srgbClr val="EF7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”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77240" y="5925312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C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  </a:t>
            </a:r>
            <a:pPr indent="0" marL="0">
              <a:buNone/>
            </a:pPr>
            <a:r>
              <a:rPr lang="en-US" sz="14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Ending on a sustainable, lasting lifestyle.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Fitness App Storyboard — Arjun</dc:title>
  <dc:subject>PptxGenJS Presentation</dc:subject>
  <dc:creator>PptxGenJS</dc:creator>
  <cp:lastModifiedBy>PptxGenJS</cp:lastModifiedBy>
  <cp:revision>1</cp:revision>
  <dcterms:created xsi:type="dcterms:W3CDTF">2026-07-06T04:32:29Z</dcterms:created>
  <dcterms:modified xsi:type="dcterms:W3CDTF">2026-07-06T04:32:29Z</dcterms:modified>
</cp:coreProperties>
</file>